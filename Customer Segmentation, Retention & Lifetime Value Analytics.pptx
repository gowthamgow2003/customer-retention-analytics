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2" r:id="rId3"/>
    <p:sldId id="260" r:id="rId4"/>
    <p:sldId id="259" r:id="rId5"/>
    <p:sldId id="258" r:id="rId6"/>
    <p:sldId id="25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866d2be49c403e8e/Documents/Customer_Retention_Project/Customer_Retention_Report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66d2be49c403e8e/Documents/Customer_Retention_Project/Customer_Retention_Repor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Data!PivotTable9</c:name>
    <c:fmtId val="46"/>
  </c:pivotSource>
  <c:chart>
    <c:autoTitleDeleted val="1"/>
    <c:pivotFmts>
      <c:pivotFmt>
        <c:idx val="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dLbl>
          <c:idx val="0"/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 w="34925" cap="rnd">
            <a:solidFill>
              <a:schemeClr val="accent1"/>
            </a:solidFill>
            <a:round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Data'!$H$10</c:f>
              <c:strCache>
                <c:ptCount val="1"/>
                <c:pt idx="0">
                  <c:v>Total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Data'!$G$11:$G$23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Data'!$H$11:$H$23</c:f>
              <c:numCache>
                <c:formatCode>General</c:formatCode>
                <c:ptCount val="12"/>
                <c:pt idx="0">
                  <c:v>8760</c:v>
                </c:pt>
                <c:pt idx="1">
                  <c:v>9077</c:v>
                </c:pt>
                <c:pt idx="2">
                  <c:v>10655</c:v>
                </c:pt>
                <c:pt idx="3">
                  <c:v>10115</c:v>
                </c:pt>
                <c:pt idx="4">
                  <c:v>11443</c:v>
                </c:pt>
                <c:pt idx="5">
                  <c:v>10190</c:v>
                </c:pt>
                <c:pt idx="6">
                  <c:v>11170</c:v>
                </c:pt>
                <c:pt idx="7">
                  <c:v>11657</c:v>
                </c:pt>
                <c:pt idx="8">
                  <c:v>4665</c:v>
                </c:pt>
                <c:pt idx="9">
                  <c:v>5426</c:v>
                </c:pt>
                <c:pt idx="10">
                  <c:v>8179</c:v>
                </c:pt>
                <c:pt idx="11">
                  <c:v>6111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777-4570-914E-EF54FC469CC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05302992"/>
        <c:axId val="684176240"/>
      </c:lineChart>
      <c:catAx>
        <c:axId val="605302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176240"/>
        <c:crosses val="autoZero"/>
        <c:auto val="1"/>
        <c:lblAlgn val="ctr"/>
        <c:lblOffset val="100"/>
        <c:noMultiLvlLbl val="0"/>
      </c:catAx>
      <c:valAx>
        <c:axId val="68417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30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Data!PivotTable19</c:name>
    <c:fmtId val="32"/>
  </c:pivotSource>
  <c:chart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shade val="76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>
                  <a:tint val="77000"/>
                </a:schemeClr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'Pivot Data'!$C$15:$C$16</c:f>
              <c:strCache>
                <c:ptCount val="1"/>
                <c:pt idx="0">
                  <c:v>One-Time Customer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'Pivot Data'!$B$17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Data'!$C$17</c:f>
              <c:numCache>
                <c:formatCode>General</c:formatCode>
                <c:ptCount val="1"/>
                <c:pt idx="0">
                  <c:v>93099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38-46CE-9839-EC865A66B208}"/>
            </c:ext>
          </c:extLst>
        </c:ser>
        <c:ser>
          <c:idx val="1"/>
          <c:order val="1"/>
          <c:tx>
            <c:strRef>
              <c:f>'Pivot Data'!$D$15:$D$16</c:f>
              <c:strCache>
                <c:ptCount val="1"/>
                <c:pt idx="0">
                  <c:v>Repeat Customer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77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tint val="77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tint val="77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'Pivot Data'!$B$17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'Pivot Data'!$D$17</c:f>
              <c:numCache>
                <c:formatCode>General</c:formatCode>
                <c:ptCount val="1"/>
                <c:pt idx="0">
                  <c:v>2997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38-46CE-9839-EC865A66B208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10367471"/>
        <c:axId val="683998640"/>
      </c:barChart>
      <c:catAx>
        <c:axId val="3103674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98640"/>
        <c:crosses val="autoZero"/>
        <c:auto val="1"/>
        <c:lblAlgn val="ctr"/>
        <c:lblOffset val="100"/>
        <c:noMultiLvlLbl val="0"/>
      </c:catAx>
      <c:valAx>
        <c:axId val="6839986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0367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</c:name>
    <c:fmtId val="53"/>
  </c:pivotSource>
  <c:chart>
    <c:autoTitleDeleted val="1"/>
    <c:pivotFmts>
      <c:pivotFmt>
        <c:idx val="0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</c:pivotFmt>
      <c:pivotFmt>
        <c:idx val="7"/>
      </c:pivotFmt>
      <c:pivotFmt>
        <c:idx val="8"/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0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1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2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Data'!$J$25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4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4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4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8E9-4BB9-A53B-5191B9837F1A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8E9-4BB9-A53B-5191B9837F1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8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8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8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8E9-4BB9-A53B-5191B9837F1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8E9-4BB9-A53B-5191B9837F1A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8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8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8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8E9-4BB9-A53B-5191B9837F1A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58E9-4BB9-A53B-5191B9837F1A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tint val="4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4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4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58E9-4BB9-A53B-5191B9837F1A}"/>
              </c:ext>
            </c:extLst>
          </c:dPt>
          <c:dLbls>
            <c:delete val="1"/>
          </c:dLbls>
          <c:cat>
            <c:strRef>
              <c:f>'Pivot Data'!$I$26:$I$33</c:f>
              <c:strCache>
                <c:ptCount val="7"/>
                <c:pt idx="0">
                  <c:v>At Risk</c:v>
                </c:pt>
                <c:pt idx="1">
                  <c:v>Champions</c:v>
                </c:pt>
                <c:pt idx="2">
                  <c:v>Hibernating</c:v>
                </c:pt>
                <c:pt idx="3">
                  <c:v>Loyal Customers</c:v>
                </c:pt>
                <c:pt idx="4">
                  <c:v>Need Attention</c:v>
                </c:pt>
                <c:pt idx="5">
                  <c:v>New Customers</c:v>
                </c:pt>
                <c:pt idx="6">
                  <c:v>Promising</c:v>
                </c:pt>
              </c:strCache>
            </c:strRef>
          </c:cat>
          <c:val>
            <c:numRef>
              <c:f>'Pivot Data'!$J$26:$J$33</c:f>
              <c:numCache>
                <c:formatCode>[$$-409]#,##0.00</c:formatCode>
                <c:ptCount val="7"/>
                <c:pt idx="0">
                  <c:v>2691628.6302997973</c:v>
                </c:pt>
                <c:pt idx="1">
                  <c:v>252626.92999999513</c:v>
                </c:pt>
                <c:pt idx="2">
                  <c:v>2373848.9498997387</c:v>
                </c:pt>
                <c:pt idx="3">
                  <c:v>16999.929999999924</c:v>
                </c:pt>
                <c:pt idx="4">
                  <c:v>2715422.0501998034</c:v>
                </c:pt>
                <c:pt idx="5">
                  <c:v>2565394.7386997514</c:v>
                </c:pt>
                <c:pt idx="6">
                  <c:v>2652627.2499997839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8E9-4BB9-A53B-5191B9837F1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Data!PivotTable22</c:name>
    <c:fmtId val="56"/>
  </c:pivotSource>
  <c:chart>
    <c:title>
      <c:tx>
        <c:rich>
          <a:bodyPr/>
          <a:lstStyle/>
          <a:p>
            <a:pPr>
              <a:defRPr/>
            </a:pPr>
            <a:r>
              <a:rPr lang="en-IN" sz="1400" b="1" i="0" u="none" strike="noStrike" baseline="0"/>
              <a:t>Repeat vs One-Time Customers</a:t>
            </a:r>
            <a:endParaRPr lang="en-IN" sz="1400"/>
          </a:p>
        </c:rich>
      </c:tx>
      <c:overlay val="0"/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ln w="28575" cap="rnd">
            <a:solidFill>
              <a:schemeClr val="accent1">
                <a:shade val="76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1">
                <a:tint val="77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28575" cap="rnd">
            <a:solidFill>
              <a:schemeClr val="accent1">
                <a:shade val="76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1">
                <a:tint val="77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28575" cap="rnd">
            <a:solidFill>
              <a:schemeClr val="accent1">
                <a:shade val="76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1">
                <a:tint val="77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ln w="28575" cap="rnd">
            <a:solidFill>
              <a:schemeClr val="accent1">
                <a:shade val="76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ln w="28575" cap="rnd">
            <a:solidFill>
              <a:schemeClr val="accent1">
                <a:tint val="77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ln w="28575" cap="rnd">
            <a:solidFill>
              <a:schemeClr val="accent1">
                <a:shade val="76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ln w="28575" cap="rnd">
            <a:solidFill>
              <a:schemeClr val="accent1">
                <a:tint val="77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Data'!$L$8:$L$9</c:f>
              <c:strCache>
                <c:ptCount val="1"/>
                <c:pt idx="0">
                  <c:v>One-Time Customer</c:v>
                </c:pt>
              </c:strCache>
            </c:strRef>
          </c:tx>
          <c:spPr>
            <a:ln w="28575" cap="rnd">
              <a:solidFill>
                <a:schemeClr val="accent1">
                  <a:shade val="76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'Pivot Data'!$K$10:$K$22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Data'!$L$10:$L$22</c:f>
              <c:numCache>
                <c:formatCode>General</c:formatCode>
                <c:ptCount val="12"/>
                <c:pt idx="0">
                  <c:v>8096</c:v>
                </c:pt>
                <c:pt idx="1">
                  <c:v>8372</c:v>
                </c:pt>
                <c:pt idx="2">
                  <c:v>9952</c:v>
                </c:pt>
                <c:pt idx="3">
                  <c:v>9529</c:v>
                </c:pt>
                <c:pt idx="4">
                  <c:v>10667</c:v>
                </c:pt>
                <c:pt idx="5">
                  <c:v>9499</c:v>
                </c:pt>
                <c:pt idx="6">
                  <c:v>10434</c:v>
                </c:pt>
                <c:pt idx="7">
                  <c:v>10915</c:v>
                </c:pt>
                <c:pt idx="8">
                  <c:v>4277</c:v>
                </c:pt>
                <c:pt idx="9">
                  <c:v>5011</c:v>
                </c:pt>
                <c:pt idx="10">
                  <c:v>7633</c:v>
                </c:pt>
                <c:pt idx="11">
                  <c:v>5716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A1-4151-9DD9-89A7B8ECA30A}"/>
            </c:ext>
          </c:extLst>
        </c:ser>
        <c:ser>
          <c:idx val="1"/>
          <c:order val="1"/>
          <c:tx>
            <c:strRef>
              <c:f>'Pivot Data'!$M$8:$M$9</c:f>
              <c:strCache>
                <c:ptCount val="1"/>
                <c:pt idx="0">
                  <c:v>Repeat Customer</c:v>
                </c:pt>
              </c:strCache>
            </c:strRef>
          </c:tx>
          <c:spPr>
            <a:ln w="28575" cap="rnd">
              <a:solidFill>
                <a:schemeClr val="accent1">
                  <a:tint val="77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'Pivot Data'!$K$10:$K$22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Data'!$M$10:$M$22</c:f>
              <c:numCache>
                <c:formatCode>General</c:formatCode>
                <c:ptCount val="12"/>
                <c:pt idx="0">
                  <c:v>664</c:v>
                </c:pt>
                <c:pt idx="1">
                  <c:v>705</c:v>
                </c:pt>
                <c:pt idx="2">
                  <c:v>703</c:v>
                </c:pt>
                <c:pt idx="3">
                  <c:v>586</c:v>
                </c:pt>
                <c:pt idx="4">
                  <c:v>776</c:v>
                </c:pt>
                <c:pt idx="5">
                  <c:v>691</c:v>
                </c:pt>
                <c:pt idx="6">
                  <c:v>736</c:v>
                </c:pt>
                <c:pt idx="7">
                  <c:v>742</c:v>
                </c:pt>
                <c:pt idx="8">
                  <c:v>388</c:v>
                </c:pt>
                <c:pt idx="9">
                  <c:v>415</c:v>
                </c:pt>
                <c:pt idx="10">
                  <c:v>546</c:v>
                </c:pt>
                <c:pt idx="11">
                  <c:v>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A1-4151-9DD9-89A7B8ECA30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55266175"/>
        <c:axId val="334063535"/>
      </c:lineChart>
      <c:catAx>
        <c:axId val="35526617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4063535"/>
        <c:crosses val="autoZero"/>
        <c:auto val="1"/>
        <c:lblAlgn val="ctr"/>
        <c:lblOffset val="100"/>
        <c:noMultiLvlLbl val="0"/>
      </c:catAx>
      <c:valAx>
        <c:axId val="334063535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355266175"/>
        <c:crosses val="autoZero"/>
        <c:crossBetween val="between"/>
      </c:valAx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ln>
      <a:noFill/>
    </a:ln>
  </c:spPr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Data!PivotTable20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AOV Trend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#,##0.00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Data'!$C$50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Data'!$B$51:$B$63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Data'!$C$51:$C$63</c:f>
              <c:numCache>
                <c:formatCode>General</c:formatCode>
                <c:ptCount val="12"/>
                <c:pt idx="0">
                  <c:v>129.73878051803703</c:v>
                </c:pt>
                <c:pt idx="1">
                  <c:v>124.92797130936026</c:v>
                </c:pt>
                <c:pt idx="2">
                  <c:v>134.60414634589597</c:v>
                </c:pt>
                <c:pt idx="3">
                  <c:v>142.91046342715944</c:v>
                </c:pt>
                <c:pt idx="4">
                  <c:v>138.30915156529986</c:v>
                </c:pt>
                <c:pt idx="5">
                  <c:v>135.67543665533037</c:v>
                </c:pt>
                <c:pt idx="6">
                  <c:v>131.57637915293179</c:v>
                </c:pt>
                <c:pt idx="7">
                  <c:v>129.36327033108364</c:v>
                </c:pt>
                <c:pt idx="8">
                  <c:v>139.14149825784318</c:v>
                </c:pt>
                <c:pt idx="9">
                  <c:v>139.57295624118072</c:v>
                </c:pt>
                <c:pt idx="10">
                  <c:v>128.36669141039704</c:v>
                </c:pt>
                <c:pt idx="11">
                  <c:v>129.14912759958017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90-4FBC-BC14-880830BE3A4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864818656"/>
        <c:axId val="683982800"/>
      </c:lineChart>
      <c:catAx>
        <c:axId val="864818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3982800"/>
        <c:crosses val="autoZero"/>
        <c:auto val="1"/>
        <c:lblAlgn val="ctr"/>
        <c:lblOffset val="100"/>
        <c:noMultiLvlLbl val="0"/>
      </c:catAx>
      <c:valAx>
        <c:axId val="68398280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8648186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Data!PivotTable9</c:name>
    <c:fmtId val="3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>
                <a:solidFill>
                  <a:schemeClr val="tx1"/>
                </a:solidFill>
              </a:rPr>
              <a:t>Customers</a:t>
            </a:r>
            <a:r>
              <a:rPr lang="en-IN" sz="1400" b="1" i="0" u="none" strike="noStrike" baseline="0"/>
              <a:t> </a:t>
            </a:r>
            <a:r>
              <a:rPr lang="en-IN" sz="1400" b="1" i="0" u="none" strike="noStrike" baseline="0">
                <a:solidFill>
                  <a:schemeClr val="tx1"/>
                </a:solidFill>
              </a:rPr>
              <a:t>Trend</a:t>
            </a:r>
            <a:endParaRPr lang="en-US" b="1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Data'!$H$10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Data'!$G$11:$G$23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'Pivot Data'!$H$11:$H$23</c:f>
              <c:numCache>
                <c:formatCode>General</c:formatCode>
                <c:ptCount val="12"/>
                <c:pt idx="0">
                  <c:v>8760</c:v>
                </c:pt>
                <c:pt idx="1">
                  <c:v>9077</c:v>
                </c:pt>
                <c:pt idx="2">
                  <c:v>10655</c:v>
                </c:pt>
                <c:pt idx="3">
                  <c:v>10115</c:v>
                </c:pt>
                <c:pt idx="4">
                  <c:v>11443</c:v>
                </c:pt>
                <c:pt idx="5">
                  <c:v>10190</c:v>
                </c:pt>
                <c:pt idx="6">
                  <c:v>11170</c:v>
                </c:pt>
                <c:pt idx="7">
                  <c:v>11657</c:v>
                </c:pt>
                <c:pt idx="8">
                  <c:v>4665</c:v>
                </c:pt>
                <c:pt idx="9">
                  <c:v>5426</c:v>
                </c:pt>
                <c:pt idx="10">
                  <c:v>8179</c:v>
                </c:pt>
                <c:pt idx="11">
                  <c:v>6111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B1-46EA-84C2-A728243D1E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605302992"/>
        <c:axId val="684176240"/>
      </c:lineChart>
      <c:catAx>
        <c:axId val="6053029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4176240"/>
        <c:crosses val="autoZero"/>
        <c:auto val="1"/>
        <c:lblAlgn val="ctr"/>
        <c:lblOffset val="100"/>
        <c:noMultiLvlLbl val="0"/>
      </c:catAx>
      <c:valAx>
        <c:axId val="68417624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605302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Data!PivotTable4</c:name>
    <c:fmtId val="4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Sales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Data'!$P$28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[$$-409]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Data'!$O$29:$O$41</c:f>
              <c:strCache>
                <c:ptCount val="12"/>
                <c:pt idx="0">
                  <c:v>May</c:v>
                </c:pt>
                <c:pt idx="1">
                  <c:v>Aug</c:v>
                </c:pt>
                <c:pt idx="2">
                  <c:v>Jul</c:v>
                </c:pt>
                <c:pt idx="3">
                  <c:v>Apr</c:v>
                </c:pt>
                <c:pt idx="4">
                  <c:v>Mar</c:v>
                </c:pt>
                <c:pt idx="5">
                  <c:v>Jun</c:v>
                </c:pt>
                <c:pt idx="6">
                  <c:v>Feb</c:v>
                </c:pt>
                <c:pt idx="7">
                  <c:v>Jan</c:v>
                </c:pt>
                <c:pt idx="8">
                  <c:v>Nov</c:v>
                </c:pt>
                <c:pt idx="9">
                  <c:v>Dec</c:v>
                </c:pt>
                <c:pt idx="10">
                  <c:v>Oct</c:v>
                </c:pt>
                <c:pt idx="11">
                  <c:v>Sep</c:v>
                </c:pt>
              </c:strCache>
            </c:strRef>
          </c:cat>
          <c:val>
            <c:numRef>
              <c:f>'Pivot Data'!$P$29:$P$41</c:f>
              <c:numCache>
                <c:formatCode>[$$-409]#,##0.00</c:formatCode>
                <c:ptCount val="12"/>
                <c:pt idx="0">
                  <c:v>1462342.6594999153</c:v>
                </c:pt>
                <c:pt idx="1">
                  <c:v>1402685.94019994</c:v>
                </c:pt>
                <c:pt idx="2">
                  <c:v>1357605.0800999503</c:v>
                </c:pt>
                <c:pt idx="3">
                  <c:v>1335212.4597999507</c:v>
                </c:pt>
                <c:pt idx="4">
                  <c:v>1331638.8197999487</c:v>
                </c:pt>
                <c:pt idx="5">
                  <c:v>1276977.2097999693</c:v>
                </c:pt>
                <c:pt idx="6">
                  <c:v>1062887.1799000371</c:v>
                </c:pt>
                <c:pt idx="7">
                  <c:v>1046862.2200000408</c:v>
                </c:pt>
                <c:pt idx="8">
                  <c:v>968398.32000003522</c:v>
                </c:pt>
                <c:pt idx="9">
                  <c:v>732792.15000001795</c:v>
                </c:pt>
                <c:pt idx="10">
                  <c:v>692142.29000001517</c:v>
                </c:pt>
                <c:pt idx="11">
                  <c:v>599004.15000001492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4-418E-B359-E436EEE8718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970279488"/>
        <c:axId val="789537872"/>
      </c:lineChart>
      <c:catAx>
        <c:axId val="9702794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9537872"/>
        <c:crosses val="autoZero"/>
        <c:auto val="1"/>
        <c:lblAlgn val="ctr"/>
        <c:lblOffset val="100"/>
        <c:noMultiLvlLbl val="0"/>
      </c:catAx>
      <c:valAx>
        <c:axId val="789537872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.00" sourceLinked="1"/>
        <c:majorTickMark val="out"/>
        <c:minorTickMark val="none"/>
        <c:tickLblPos val="nextTo"/>
        <c:crossAx val="970279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[Customer_Retention_Report.xlsx]Pivot Data!PivotTable1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/>
              <a:t>Revenue by Customer Segment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4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6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7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8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1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2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4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5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6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19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0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2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3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4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numFmt formatCode="[$$-409]0,&quot;K&quot;" sourceLinked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gradFill rotWithShape="1">
            <a:gsLst>
              <a:gs pos="0">
                <a:schemeClr val="accent1">
                  <a:shade val="47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47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47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7"/>
        <c:spPr>
          <a:gradFill rotWithShape="1">
            <a:gsLst>
              <a:gs pos="0">
                <a:schemeClr val="accent1">
                  <a:shade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8"/>
        <c:spPr>
          <a:gradFill rotWithShape="1">
            <a:gsLst>
              <a:gs pos="0">
                <a:schemeClr val="accent1">
                  <a:shade val="82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hade val="82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shade val="82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2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0"/>
        <c:spPr>
          <a:gradFill rotWithShape="1">
            <a:gsLst>
              <a:gs pos="0">
                <a:schemeClr val="accent1">
                  <a:tint val="83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83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83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1"/>
        <c:spPr>
          <a:gradFill rotWithShape="1">
            <a:gsLst>
              <a:gs pos="0">
                <a:schemeClr val="accent1">
                  <a:tint val="65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65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65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  <c:pivotFmt>
        <c:idx val="32"/>
        <c:spPr>
          <a:gradFill rotWithShape="1">
            <a:gsLst>
              <a:gs pos="0">
                <a:schemeClr val="accent1">
                  <a:tint val="48000"/>
                  <a:satMod val="103000"/>
                  <a:lumMod val="102000"/>
                  <a:tint val="94000"/>
                </a:schemeClr>
              </a:gs>
              <a:gs pos="50000">
                <a:schemeClr val="accent1">
                  <a:tint val="48000"/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tint val="48000"/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'Pivot Data'!$J$25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hade val="47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47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47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667-4456-B1F9-46575B5DED8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1">
                      <a:shade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667-4456-B1F9-46575B5DED8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1">
                      <a:shade val="82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hade val="82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shade val="82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667-4456-B1F9-46575B5DED86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667-4456-B1F9-46575B5DED86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1">
                      <a:tint val="83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83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83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0667-4456-B1F9-46575B5DED86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1">
                      <a:tint val="65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65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65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0667-4456-B1F9-46575B5DED86}"/>
              </c:ext>
            </c:extLst>
          </c:dPt>
          <c:dPt>
            <c:idx val="6"/>
            <c:bubble3D val="0"/>
            <c:spPr>
              <a:gradFill rotWithShape="1">
                <a:gsLst>
                  <a:gs pos="0">
                    <a:schemeClr val="accent1">
                      <a:tint val="48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tint val="48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tint val="48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0667-4456-B1F9-46575B5DED86}"/>
              </c:ext>
            </c:extLst>
          </c:dPt>
          <c:dLbls>
            <c:numFmt formatCode="[$$-409]0,&quot;K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Data'!$I$26:$I$33</c:f>
              <c:strCache>
                <c:ptCount val="7"/>
                <c:pt idx="0">
                  <c:v>At Risk</c:v>
                </c:pt>
                <c:pt idx="1">
                  <c:v>Champions</c:v>
                </c:pt>
                <c:pt idx="2">
                  <c:v>Hibernating</c:v>
                </c:pt>
                <c:pt idx="3">
                  <c:v>Loyal Customers</c:v>
                </c:pt>
                <c:pt idx="4">
                  <c:v>Need Attention</c:v>
                </c:pt>
                <c:pt idx="5">
                  <c:v>New Customers</c:v>
                </c:pt>
                <c:pt idx="6">
                  <c:v>Promising</c:v>
                </c:pt>
              </c:strCache>
            </c:strRef>
          </c:cat>
          <c:val>
            <c:numRef>
              <c:f>'Pivot Data'!$J$26:$J$33</c:f>
              <c:numCache>
                <c:formatCode>[$$-409]#,##0.00</c:formatCode>
                <c:ptCount val="7"/>
                <c:pt idx="0">
                  <c:v>2691628.6302997973</c:v>
                </c:pt>
                <c:pt idx="1">
                  <c:v>252626.92999999513</c:v>
                </c:pt>
                <c:pt idx="2">
                  <c:v>2373848.9498997387</c:v>
                </c:pt>
                <c:pt idx="3">
                  <c:v>16999.929999999924</c:v>
                </c:pt>
                <c:pt idx="4">
                  <c:v>2715422.0501998034</c:v>
                </c:pt>
                <c:pt idx="5">
                  <c:v>2565394.7386997514</c:v>
                </c:pt>
                <c:pt idx="6">
                  <c:v>2652627.2499997839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0667-4456-B1F9-46575B5DED8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[Customer_Retention_Report.xlsx]Pivot Data!PivotTable2</c:name>
    <c:fmtId val="4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600" b="1" i="0" u="none" strike="noStrike" baseline="0"/>
              <a:t>Customers by Customer Segment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'Pivot Data'!$M$26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 Data'!$L$27:$L$34</c:f>
              <c:strCache>
                <c:ptCount val="7"/>
                <c:pt idx="0">
                  <c:v>Loyal Customers</c:v>
                </c:pt>
                <c:pt idx="1">
                  <c:v>Champions</c:v>
                </c:pt>
                <c:pt idx="2">
                  <c:v>New Customers</c:v>
                </c:pt>
                <c:pt idx="3">
                  <c:v>Hibernating</c:v>
                </c:pt>
                <c:pt idx="4">
                  <c:v>Promising</c:v>
                </c:pt>
                <c:pt idx="5">
                  <c:v>Need Attention</c:v>
                </c:pt>
                <c:pt idx="6">
                  <c:v>At Risk</c:v>
                </c:pt>
              </c:strCache>
            </c:strRef>
          </c:cat>
          <c:val>
            <c:numRef>
              <c:f>'Pivot Data'!$M$27:$M$34</c:f>
              <c:numCache>
                <c:formatCode>General</c:formatCode>
                <c:ptCount val="7"/>
                <c:pt idx="0">
                  <c:v>514</c:v>
                </c:pt>
                <c:pt idx="1">
                  <c:v>1681</c:v>
                </c:pt>
                <c:pt idx="2">
                  <c:v>18755</c:v>
                </c:pt>
                <c:pt idx="3">
                  <c:v>18857</c:v>
                </c:pt>
                <c:pt idx="4">
                  <c:v>19684</c:v>
                </c:pt>
                <c:pt idx="5">
                  <c:v>19926</c:v>
                </c:pt>
                <c:pt idx="6">
                  <c:v>20024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3B-4F50-B7D6-0B7F9CB4ED9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1067049519"/>
        <c:axId val="1499717007"/>
      </c:barChart>
      <c:catAx>
        <c:axId val="106704951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9717007"/>
        <c:crosses val="autoZero"/>
        <c:auto val="1"/>
        <c:lblAlgn val="ctr"/>
        <c:lblOffset val="100"/>
        <c:noMultiLvlLbl val="0"/>
      </c:catAx>
      <c:valAx>
        <c:axId val="14997170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70495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CE6DA-7625-E4E1-B9C3-658AF82DF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1EF18-C836-E9E3-8603-EB42B4BE3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0EB41-0D12-F26F-83D8-A7913A117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B978A-5C41-E33C-03D3-700B5798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A9F54-36A3-82F0-FA74-147B64F2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1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EF28D-7A1A-E9EC-286F-55B9C3BA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80FF-2701-BCF8-2543-BBFEF13BA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A3465-70A2-527B-7AB6-8E1BBEEC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41BCF-C612-3AA8-7E45-756ED614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F7BCBA-6BF7-1B78-4A5A-76C5A4562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892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6A47-0F66-B558-DDB4-8036E4AB8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DF7A6-C0FE-C272-B877-2BE0F5725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01A7A-576A-6D33-AC2C-E066074C3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B9A69-65CE-703D-C15A-0155CAA0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3639A-5FB9-B82B-D21F-9217EC94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89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94E0-1BCE-C757-0AAF-23E149B57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13C2-550B-AD3A-53C8-3837DA643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60C06-1A65-605C-3D70-359386CAE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7B71A-1828-AED8-4183-3E8CBDE6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84F71-231A-A8DC-9E01-08CCEC3F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4BB2A-3C9B-9FD6-CC9F-CEF55177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6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24FF8-17B6-27FE-2A3C-7B4A8A0C4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BD2A1-9C65-C8CF-0834-F4814A507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11C53-D30E-ECB8-6DF2-0108AA4F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F1A2B-A0C7-3FC8-5492-9BADAC8AB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6CA0A8-3B03-ED32-FC13-E9DC1712DF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FDAED5-A660-8710-EB6B-0723B53FE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B54CA8-56EC-932F-B30B-1A202DD0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498A7-7DDF-7D7F-0D14-E84B3E0A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6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334A-BAFD-648F-3EE3-A8EC692DA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A6A30-D8B3-5579-9471-67DEBD60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91B23-AC6D-BE20-FE78-DBF35C27E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80355-B378-E602-30C8-635034D85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42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485EC-CBF7-42D2-7BD3-5438FEF7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329A6-4738-B35B-C687-33CAE309E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3E418-6360-C2D4-3A5D-B142AAB2A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77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760D0-6979-63AC-5826-35B669418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41C85-6886-5736-9974-23F2CEE3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3FEA3-8C73-BF9D-75FE-60D76EAFD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938B8-1FE0-5920-1A36-64CAD498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35580F-9EB4-D022-C9E1-19A7A2612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24810-703F-E459-5049-CE05F35D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993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0DB7-AD57-70AC-F29F-E10710DDC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0AC95B-FE2E-505F-7470-F3C30BC641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8B74B-7EF5-8A35-B6E6-4B9E51F95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C4B5D-268C-7D45-BD97-84657502F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A7FC4-5C85-C610-E5C1-4EC9FEFB8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0A884-CE99-178F-2562-30DBFEBE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421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09AD-7223-95A5-D617-AC327E9B7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5A300-D3B4-7089-99DC-ED0DC17F3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8062C-C7E0-EA31-19A4-4B343BCD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26F74-4CC8-2495-473C-605368A85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DAF43-6849-7BF4-F79E-21FEE7DA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264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4AEC2A-9C1F-7F3E-3707-BC58EDB51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82395-8EA1-B3F7-6D9A-997FCDBDF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F8CEE-13CB-C85D-4B92-913A4F9EC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A4407-6D21-8F95-9EE8-37FD8CE9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B882-A1C9-B203-5902-C475AAF1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6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37F1BF-4740-6F3E-D73F-ABEAC5547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3C0EA-9EBB-F296-36EC-645888753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D0CD6-EB11-1094-83E5-16E43139B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853AD-B532-4AFB-AA94-E456301597C2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D09B9-CC31-E608-C4B2-3C7D804C5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26D06-3AAF-2BFF-B32E-5E4579B6A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6B542-91E5-4072-A587-EC0B4A37B4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3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376A-CF75-8B4D-A2DA-8573B3082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5FBC-857E-2919-B27A-5A10D838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7" y="2439732"/>
            <a:ext cx="8512278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Customer Segmentation, Retention &amp; Lifetime Value Analytics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6C83C-A3F5-995B-2192-261FF84D467D}"/>
              </a:ext>
            </a:extLst>
          </p:cNvPr>
          <p:cNvSpPr/>
          <p:nvPr/>
        </p:nvSpPr>
        <p:spPr>
          <a:xfrm>
            <a:off x="13519" y="4945626"/>
            <a:ext cx="3299951" cy="191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9C2A5-7E50-1088-F52E-8F09148071FC}"/>
              </a:ext>
            </a:extLst>
          </p:cNvPr>
          <p:cNvSpPr/>
          <p:nvPr/>
        </p:nvSpPr>
        <p:spPr>
          <a:xfrm>
            <a:off x="8770374" y="1"/>
            <a:ext cx="3408106" cy="182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D994C-DEA0-A525-ED93-60737C4059EA}"/>
              </a:ext>
            </a:extLst>
          </p:cNvPr>
          <p:cNvSpPr txBox="1"/>
          <p:nvPr/>
        </p:nvSpPr>
        <p:spPr>
          <a:xfrm>
            <a:off x="1818966" y="2536689"/>
            <a:ext cx="11798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5400" dirty="0"/>
              <a:t>👥</a:t>
            </a:r>
          </a:p>
        </p:txBody>
      </p:sp>
    </p:spTree>
    <p:extLst>
      <p:ext uri="{BB962C8B-B14F-4D97-AF65-F5344CB8AC3E}">
        <p14:creationId xmlns:p14="http://schemas.microsoft.com/office/powerpoint/2010/main" val="96551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2869-40D7-38EB-66AC-CD48A320E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355" y="243973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A Data-Driven Approach to Customer Retention</a:t>
            </a:r>
            <a:br>
              <a:rPr lang="en-IN" b="1" dirty="0">
                <a:latin typeface="+mn-lt"/>
              </a:rPr>
            </a:br>
            <a:r>
              <a:rPr lang="en-IN" sz="2000" b="1" i="1" dirty="0">
                <a:latin typeface="+mn-lt"/>
              </a:rPr>
              <a:t>Transforming Customer Insights into Long-Term Business Growth</a:t>
            </a:r>
            <a:br>
              <a:rPr lang="en-IN" b="1" dirty="0">
                <a:latin typeface="+mn-lt"/>
              </a:rPr>
            </a:br>
            <a:endParaRPr lang="en-IN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583551-6C5C-3DDD-944A-44902C870091}"/>
              </a:ext>
            </a:extLst>
          </p:cNvPr>
          <p:cNvSpPr/>
          <p:nvPr/>
        </p:nvSpPr>
        <p:spPr>
          <a:xfrm>
            <a:off x="13519" y="4945626"/>
            <a:ext cx="3299951" cy="19123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BFC81E-C579-B1FE-93E7-1CAF8F9218EF}"/>
              </a:ext>
            </a:extLst>
          </p:cNvPr>
          <p:cNvSpPr/>
          <p:nvPr/>
        </p:nvSpPr>
        <p:spPr>
          <a:xfrm>
            <a:off x="8770374" y="1"/>
            <a:ext cx="3408106" cy="18287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589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913BAA1-DAEE-ABAD-6FD1-FD6C6BF0A1F7}"/>
              </a:ext>
            </a:extLst>
          </p:cNvPr>
          <p:cNvSpPr txBox="1"/>
          <p:nvPr/>
        </p:nvSpPr>
        <p:spPr>
          <a:xfrm>
            <a:off x="285135" y="258901"/>
            <a:ext cx="7128387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Purpose</a:t>
            </a:r>
            <a:endParaRPr lang="en-IN" sz="1400" dirty="0"/>
          </a:p>
          <a:p>
            <a:r>
              <a:rPr lang="en-IN" sz="1400" dirty="0"/>
              <a:t>Transform e-commerce transaction data into actionable customer insights by identifying customer segments, measuring lifetime value, and analysing purchasing behaviour to support data-driven business decisions.</a:t>
            </a:r>
          </a:p>
          <a:p>
            <a:endParaRPr lang="en-IN" sz="1400" dirty="0"/>
          </a:p>
          <a:p>
            <a:r>
              <a:rPr lang="en-IN" sz="1400" b="1" dirty="0"/>
              <a:t>Data Analytics Concepts</a:t>
            </a:r>
            <a:endParaRPr lang="en-IN" sz="1400" dirty="0"/>
          </a:p>
          <a:p>
            <a:r>
              <a:rPr lang="en-IN" sz="1400" dirty="0"/>
              <a:t>Customer Segmentation (RFM Analysis), Customer Lifetime Value (CLV), Cohort Analysis, Customer Retention, Revenue Analysis, KPI Reporting, Trend Analysis, Business Intelligence</a:t>
            </a:r>
          </a:p>
          <a:p>
            <a:endParaRPr lang="en-IN" sz="1400" dirty="0"/>
          </a:p>
          <a:p>
            <a:r>
              <a:rPr lang="en-IN" sz="1400" b="1" dirty="0"/>
              <a:t>Technology Stack Tools</a:t>
            </a:r>
            <a:endParaRPr lang="en-IN" sz="1400" dirty="0"/>
          </a:p>
          <a:p>
            <a:r>
              <a:rPr lang="en-IN" sz="1400" dirty="0"/>
              <a:t>SQL Server, Python, Microsoft Excel</a:t>
            </a:r>
          </a:p>
          <a:p>
            <a:endParaRPr lang="en-IN" sz="1400" dirty="0"/>
          </a:p>
          <a:p>
            <a:r>
              <a:rPr lang="en-IN" sz="1400" b="1" dirty="0"/>
              <a:t>Summary</a:t>
            </a:r>
            <a:endParaRPr lang="en-IN" sz="1400" dirty="0"/>
          </a:p>
          <a:p>
            <a:r>
              <a:rPr lang="en-IN" sz="1400" dirty="0"/>
              <a:t>Developed an end-to-end customer analytics solution using SQL, Excel, and Python to analyse 100,000+ e-commerce orders. Implemented RFM segmentation, customer lifetime value (CLV), and retention analysis to generate actionable business insights.</a:t>
            </a:r>
          </a:p>
          <a:p>
            <a:endParaRPr lang="en-IN" sz="1400" dirty="0"/>
          </a:p>
          <a:p>
            <a:r>
              <a:rPr lang="en-IN" sz="1400" b="1" dirty="0"/>
              <a:t>Process:</a:t>
            </a:r>
            <a:endParaRPr lang="en-IN" sz="1400" dirty="0"/>
          </a:p>
          <a:p>
            <a:r>
              <a:rPr lang="en-IN" sz="1400" dirty="0"/>
              <a:t>Imported and integrated multiple e-commerce datasets, then designed a star schema with fact and dimension tables for analytics.</a:t>
            </a:r>
          </a:p>
          <a:p>
            <a:r>
              <a:rPr lang="en-IN" sz="1400" dirty="0"/>
              <a:t>Built SQL views and business KPIs including Revenue, AOV, CLV, Customer Retention, Payment, Delivery, and Seller Performance metrics.</a:t>
            </a:r>
          </a:p>
          <a:p>
            <a:r>
              <a:rPr lang="en-IN" sz="1400" dirty="0"/>
              <a:t>Applied RFM (Recency, Frequency, Monetary) analysis using SQL window functions to segment customers into actionable business groups.</a:t>
            </a:r>
          </a:p>
          <a:p>
            <a:r>
              <a:rPr lang="en-IN" sz="1400" dirty="0"/>
              <a:t>Analysed customer purchasing behaviour, payment preferences, repeat customers, and regional trends to identify key business opportunities.</a:t>
            </a:r>
          </a:p>
          <a:p>
            <a:r>
              <a:rPr lang="en-IN" sz="1400" dirty="0"/>
              <a:t>Developed an interactive Excel/Power BI dashboard with KPI cards and visualizations to support customer analytics and business decision-making.</a:t>
            </a:r>
          </a:p>
          <a:p>
            <a:endParaRPr lang="en-IN" sz="1400" dirty="0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38A32DD-0C2A-4796-9740-9F934C8A7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1143432"/>
              </p:ext>
            </p:extLst>
          </p:nvPr>
        </p:nvGraphicFramePr>
        <p:xfrm>
          <a:off x="7887155" y="1123472"/>
          <a:ext cx="3400277" cy="2160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83E7DA4B-02E7-428C-A299-627326ECB7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2606423"/>
              </p:ext>
            </p:extLst>
          </p:nvPr>
        </p:nvGraphicFramePr>
        <p:xfrm>
          <a:off x="8986684" y="3028335"/>
          <a:ext cx="2497393" cy="19271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091EBCB-BA54-4DD2-A510-FD1D4FA1D7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7024582"/>
              </p:ext>
            </p:extLst>
          </p:nvPr>
        </p:nvGraphicFramePr>
        <p:xfrm>
          <a:off x="8136584" y="4830856"/>
          <a:ext cx="1700199" cy="13044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810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A4B95DA-ECE6-4BC9-8E04-DA384C07D6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3802758"/>
              </p:ext>
            </p:extLst>
          </p:nvPr>
        </p:nvGraphicFramePr>
        <p:xfrm>
          <a:off x="591600" y="2460658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7F4AAC3-9C37-4689-9F5B-9496179B98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5801855"/>
              </p:ext>
            </p:extLst>
          </p:nvPr>
        </p:nvGraphicFramePr>
        <p:xfrm>
          <a:off x="6096000" y="2460658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041DE5A-D24D-53C5-EDCD-F891C838A56D}"/>
              </a:ext>
            </a:extLst>
          </p:cNvPr>
          <p:cNvSpPr txBox="1"/>
          <p:nvPr/>
        </p:nvSpPr>
        <p:spPr>
          <a:xfrm>
            <a:off x="757082" y="530944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Customer:</a:t>
            </a:r>
            <a:r>
              <a:rPr lang="en-IN" sz="1400" dirty="0"/>
              <a:t> Most customers are one-time buyers, while repeat customers represent a relatively small portion of the customer base.</a:t>
            </a:r>
          </a:p>
          <a:p>
            <a:r>
              <a:rPr lang="en-IN" sz="1400" b="1" dirty="0"/>
              <a:t>Increasing repeat purchase rates through loyalty programs and personalized marketing can improve long-term customer retention and revenue.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562020-5ACE-3689-2F0B-AF8256E9227E}"/>
              </a:ext>
            </a:extLst>
          </p:cNvPr>
          <p:cNvSpPr txBox="1"/>
          <p:nvPr/>
        </p:nvSpPr>
        <p:spPr>
          <a:xfrm>
            <a:off x="6343491" y="528862"/>
            <a:ext cx="56240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Sales:</a:t>
            </a:r>
            <a:r>
              <a:rPr lang="en-IN" sz="1400" dirty="0"/>
              <a:t> Average Order Value remained relatively stable, with peak purchasing observed during April, September, and October.</a:t>
            </a:r>
          </a:p>
          <a:p>
            <a:r>
              <a:rPr lang="en-IN" sz="1400" b="1" dirty="0"/>
              <a:t>Promotional campaigns and product bundling during high-performing months can further increase average customer spending.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49230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8A32DD-0C2A-4796-9740-9F934C8A7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4719880"/>
              </p:ext>
            </p:extLst>
          </p:nvPr>
        </p:nvGraphicFramePr>
        <p:xfrm>
          <a:off x="689940" y="2163097"/>
          <a:ext cx="5504383" cy="3728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7746DA1-6DBB-4170-AAEE-F20B398F2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3365209"/>
              </p:ext>
            </p:extLst>
          </p:nvPr>
        </p:nvGraphicFramePr>
        <p:xfrm>
          <a:off x="6343491" y="2162246"/>
          <a:ext cx="5504400" cy="37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18D3116-C6A2-FEBC-F7E7-8B6494536EF0}"/>
              </a:ext>
            </a:extLst>
          </p:cNvPr>
          <p:cNvSpPr txBox="1"/>
          <p:nvPr/>
        </p:nvSpPr>
        <p:spPr>
          <a:xfrm>
            <a:off x="757082" y="530944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Customer:</a:t>
            </a:r>
            <a:r>
              <a:rPr lang="en-IN" sz="1400" dirty="0"/>
              <a:t> Customer acquisition remained strong during the first eight months before declining in the later months.</a:t>
            </a:r>
          </a:p>
          <a:p>
            <a:r>
              <a:rPr lang="en-IN" sz="1400" b="1" dirty="0"/>
              <a:t>Improving acquisition campaigns and retention strategies during low-performing periods can help maintain consistent customer growth throughout the year.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21399E-AA7E-1A07-CCD5-89A57987849B}"/>
              </a:ext>
            </a:extLst>
          </p:cNvPr>
          <p:cNvSpPr txBox="1"/>
          <p:nvPr/>
        </p:nvSpPr>
        <p:spPr>
          <a:xfrm>
            <a:off x="6343491" y="528862"/>
            <a:ext cx="562405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Sales:</a:t>
            </a:r>
            <a:r>
              <a:rPr lang="en-IN" sz="1400" dirty="0"/>
              <a:t> Revenue shows a gradual decline over the analysis period, indicating reduced sales performance in the later months.</a:t>
            </a:r>
          </a:p>
          <a:p>
            <a:r>
              <a:rPr lang="en-IN" sz="1400" b="1" dirty="0"/>
              <a:t>Identifying seasonal demand patterns and optimizing pricing, promotions, and customer retention strategies can help improve future sales performance.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97188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091EBCB-BA54-4DD2-A510-FD1D4FA1D7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4629182"/>
              </p:ext>
            </p:extLst>
          </p:nvPr>
        </p:nvGraphicFramePr>
        <p:xfrm>
          <a:off x="688259" y="2631693"/>
          <a:ext cx="4963726" cy="3651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A586529-29CA-45D2-8AA9-C9D262BF79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693840"/>
              </p:ext>
            </p:extLst>
          </p:nvPr>
        </p:nvGraphicFramePr>
        <p:xfrm>
          <a:off x="6901448" y="2268124"/>
          <a:ext cx="4110682" cy="4060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5F687C-3C12-8515-7F85-E42CE231FB20}"/>
              </a:ext>
            </a:extLst>
          </p:cNvPr>
          <p:cNvSpPr txBox="1"/>
          <p:nvPr/>
        </p:nvSpPr>
        <p:spPr>
          <a:xfrm>
            <a:off x="1406014" y="521108"/>
            <a:ext cx="9212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Customer Segmentation: Revenue is distributed across At Risk, Promising, Need Attention, and Hibernating customers.</a:t>
            </a:r>
          </a:p>
          <a:p>
            <a:r>
              <a:rPr lang="en-IN" dirty="0"/>
              <a:t>Revenue contribution from Champions and Loyal Customers is relatively small, highlighting opportunities to strengthen customer retention and convert mid-value segments into high-value customers.</a:t>
            </a:r>
          </a:p>
        </p:txBody>
      </p:sp>
    </p:spTree>
    <p:extLst>
      <p:ext uri="{BB962C8B-B14F-4D97-AF65-F5344CB8AC3E}">
        <p14:creationId xmlns:p14="http://schemas.microsoft.com/office/powerpoint/2010/main" val="154532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91">
            <a:extLst>
              <a:ext uri="{FF2B5EF4-FFF2-40B4-BE49-F238E27FC236}">
                <a16:creationId xmlns:a16="http://schemas.microsoft.com/office/drawing/2014/main" id="{7D21F9B8-3C23-24E3-81E8-8CDF6D65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52" y="676874"/>
            <a:ext cx="1781797" cy="883997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7350197-10D0-7AED-888B-74D7D5801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52" y="1816510"/>
            <a:ext cx="1781797" cy="883997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FAA6BCA6-E0E5-36EC-9ECF-C8DC8BD28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52" y="2956146"/>
            <a:ext cx="1782000" cy="790989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D917CE9A-66D7-8350-FEF5-2B1DB585B2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549" y="4002774"/>
            <a:ext cx="1782000" cy="769074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8F450434-4712-0F23-645A-999039246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549" y="5027487"/>
            <a:ext cx="1782000" cy="729772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5B4BF315-3008-84DC-73C3-B670E4ED7410}"/>
              </a:ext>
            </a:extLst>
          </p:cNvPr>
          <p:cNvSpPr txBox="1"/>
          <p:nvPr/>
        </p:nvSpPr>
        <p:spPr>
          <a:xfrm>
            <a:off x="3505199" y="857262"/>
            <a:ext cx="697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Highest CLV:</a:t>
            </a:r>
            <a:r>
              <a:rPr lang="en-IN" sz="1400" dirty="0"/>
              <a:t> The highest-value customer generated </a:t>
            </a:r>
            <a:r>
              <a:rPr lang="en-IN" sz="1400" b="1" dirty="0"/>
              <a:t>$9,813.75</a:t>
            </a:r>
            <a:r>
              <a:rPr lang="en-IN" sz="1400" dirty="0"/>
              <a:t>, demonstrating the revenue potential of retaining and nurturing premium customers.</a:t>
            </a:r>
            <a:endParaRPr lang="en-IN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B570AB9-B2C3-664C-43C1-F787AB96CA5E}"/>
              </a:ext>
            </a:extLst>
          </p:cNvPr>
          <p:cNvSpPr txBox="1"/>
          <p:nvPr/>
        </p:nvSpPr>
        <p:spPr>
          <a:xfrm>
            <a:off x="3505200" y="1996898"/>
            <a:ext cx="697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Average CLV:</a:t>
            </a:r>
            <a:r>
              <a:rPr lang="en-IN" sz="1400" dirty="0"/>
              <a:t> The average Customer Lifetime Value of </a:t>
            </a:r>
            <a:r>
              <a:rPr lang="en-IN" sz="1400" b="1" dirty="0"/>
              <a:t>$139.10</a:t>
            </a:r>
            <a:r>
              <a:rPr lang="en-IN" sz="1400" dirty="0"/>
              <a:t> provides a benchmark for measuring customer profitability and evaluating long-term business performance.</a:t>
            </a:r>
            <a:endParaRPr lang="en-IN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6B2A0B8-47A0-3648-639B-A0A8BB7F7A2C}"/>
              </a:ext>
            </a:extLst>
          </p:cNvPr>
          <p:cNvSpPr txBox="1"/>
          <p:nvPr/>
        </p:nvSpPr>
        <p:spPr>
          <a:xfrm>
            <a:off x="3505200" y="3090030"/>
            <a:ext cx="697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Total Customers:</a:t>
            </a:r>
            <a:r>
              <a:rPr lang="en-IN" sz="1400" dirty="0"/>
              <a:t> Analysed </a:t>
            </a:r>
            <a:r>
              <a:rPr lang="en-IN" sz="1400" b="1" dirty="0"/>
              <a:t>96,096 unique customers</a:t>
            </a:r>
            <a:r>
              <a:rPr lang="en-IN" sz="1400" dirty="0"/>
              <a:t>, providing a comprehensive view of customer purchasing behaviour across the e-commerce platform.</a:t>
            </a:r>
            <a:endParaRPr lang="en-IN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EA3785DD-2688-B454-5DE8-C363257FFEE0}"/>
              </a:ext>
            </a:extLst>
          </p:cNvPr>
          <p:cNvSpPr txBox="1"/>
          <p:nvPr/>
        </p:nvSpPr>
        <p:spPr>
          <a:xfrm>
            <a:off x="3505200" y="4125701"/>
            <a:ext cx="69710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Repeat Customers:</a:t>
            </a:r>
            <a:r>
              <a:rPr lang="en-IN" sz="1400" dirty="0"/>
              <a:t> Identified </a:t>
            </a:r>
            <a:r>
              <a:rPr lang="en-IN" sz="1400" b="1" dirty="0"/>
              <a:t>2,997 repeat customers</a:t>
            </a:r>
            <a:r>
              <a:rPr lang="en-IN" sz="1400" dirty="0"/>
              <a:t>, highlighting the importance of customer retention and the opportunity to increase recurring revenue.</a:t>
            </a:r>
            <a:endParaRPr lang="en-IN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1221756B-7587-15F7-DAD1-D8C2054A3222}"/>
              </a:ext>
            </a:extLst>
          </p:cNvPr>
          <p:cNvSpPr txBox="1"/>
          <p:nvPr/>
        </p:nvSpPr>
        <p:spPr>
          <a:xfrm>
            <a:off x="3505200" y="5130763"/>
            <a:ext cx="697107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One-Time Customers:</a:t>
            </a:r>
            <a:r>
              <a:rPr lang="en-IN" sz="1400" dirty="0"/>
              <a:t> Found that </a:t>
            </a:r>
            <a:r>
              <a:rPr lang="en-IN" sz="1400" b="1" dirty="0"/>
              <a:t>93,099 customers</a:t>
            </a:r>
            <a:r>
              <a:rPr lang="en-IN" sz="1400" dirty="0"/>
              <a:t> made only one purchase, indicating significant potential for targeted marketing and loyalty initiatives to improve repeat purchase rates.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32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575</Words>
  <Application>Microsoft Office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Customer Segmentation, Retention &amp; Lifetime Value Analytics</vt:lpstr>
      <vt:lpstr>A Data-Driven Approach to Customer Retention Transforming Customer Insights into Long-Term Business Growth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Gowthaman Madhavan</dc:creator>
  <cp:lastModifiedBy>Gowthaman Madhavan</cp:lastModifiedBy>
  <cp:revision>1</cp:revision>
  <dcterms:created xsi:type="dcterms:W3CDTF">2026-08-06T16:28:22Z</dcterms:created>
  <dcterms:modified xsi:type="dcterms:W3CDTF">2026-08-06T17:53:01Z</dcterms:modified>
</cp:coreProperties>
</file>