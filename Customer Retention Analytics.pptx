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3" r:id="rId3"/>
    <p:sldId id="262" r:id="rId4"/>
    <p:sldId id="260" r:id="rId5"/>
    <p:sldId id="265" r:id="rId6"/>
    <p:sldId id="259" r:id="rId8"/>
    <p:sldId id="258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d.docs.live.net/866d2be49c403e8e/Documents/Customer_Retention_Project/Customer_Retention_Report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d.docs.live.net/866d2be49c403e8e/Documents/Customer_Retention_Project/Customer_Retention_Report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https://d.docs.live.net/866d2be49c403e8e/Documents/Customer_Retention_Project/Customer_Retention_Report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866d2be49c403e8e/Documents/Customer_Retention_Project/Customer_Retention_Report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https://d.docs.live.net/866d2be49c403e8e/Documents/Customer_Retention_Project/Customer_Retention_Report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https://d.docs.live.net/866d2be49c403e8e/Documents/Customer_Retention_Project/Customer_Retention_Report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https://d.docs.live.net/866d2be49c403e8e/Documents/Customer_Retention_Project/Customer_Retention_Report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https://d.docs.live.net/866d2be49c403e8e/Documents/Customer_Retention_Project/Customer_Retention_Report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https://d.docs.live.net/866d2be49c403e8e/Documents/Customer_Retention_Project/Customer_Retention_Repor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[Customer_Retention_Report.xlsx]Pivot Data!PivotTable9</c:name>
    <c:fmtId val="-1"/>
  </c:pivotSource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'Pivot Data'!$H$10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Data'!$G$11:$G$23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Data'!$H$11:$H$23</c:f>
              <c:numCache>
                <c:formatCode>General</c:formatCode>
                <c:ptCount val="12"/>
                <c:pt idx="0">
                  <c:v>8760</c:v>
                </c:pt>
                <c:pt idx="1">
                  <c:v>9077</c:v>
                </c:pt>
                <c:pt idx="2">
                  <c:v>10655</c:v>
                </c:pt>
                <c:pt idx="3">
                  <c:v>10115</c:v>
                </c:pt>
                <c:pt idx="4">
                  <c:v>11443</c:v>
                </c:pt>
                <c:pt idx="5">
                  <c:v>10190</c:v>
                </c:pt>
                <c:pt idx="6">
                  <c:v>11170</c:v>
                </c:pt>
                <c:pt idx="7">
                  <c:v>11657</c:v>
                </c:pt>
                <c:pt idx="8">
                  <c:v>4665</c:v>
                </c:pt>
                <c:pt idx="9">
                  <c:v>5426</c:v>
                </c:pt>
                <c:pt idx="10">
                  <c:v>8179</c:v>
                </c:pt>
                <c:pt idx="11">
                  <c:v>6111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05302992"/>
        <c:axId val="684176240"/>
      </c:lineChart>
      <c:catAx>
        <c:axId val="60530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84176240"/>
        <c:crosses val="autoZero"/>
        <c:auto val="1"/>
        <c:lblAlgn val="ctr"/>
        <c:lblOffset val="100"/>
        <c:noMultiLvlLbl val="0"/>
      </c:catAx>
      <c:valAx>
        <c:axId val="684176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302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9381e8f-8d31-4b49-b674-6c4dcffca093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[Customer_Retention_Report.xlsx]Pivot Data!PivotTable19</c:name>
    <c:fmtId val="-1"/>
  </c:pivotSource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Data'!$C$15:$C$16</c:f>
              <c:strCache>
                <c:ptCount val="1"/>
                <c:pt idx="0">
                  <c:v>One-Time Customer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'Pivot Data'!$B$17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'Pivot Data'!$C$17</c:f>
              <c:numCache>
                <c:formatCode>General</c:formatCode>
                <c:ptCount val="1"/>
                <c:pt idx="0">
                  <c:v>93099</c:v>
                </c:pt>
              </c:numCache>
            </c:numRef>
          </c:val>
        </c:ser>
        <c:ser>
          <c:idx val="1"/>
          <c:order val="1"/>
          <c:tx>
            <c:strRef>
              <c:f>'Pivot Data'!$D$15:$D$16</c:f>
              <c:strCache>
                <c:ptCount val="1"/>
                <c:pt idx="0">
                  <c:v>Repeat Customer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'Pivot Data'!$B$17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'Pivot Data'!$D$17</c:f>
              <c:numCache>
                <c:formatCode>General</c:formatCode>
                <c:ptCount val="1"/>
                <c:pt idx="0">
                  <c:v>2997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10367471"/>
        <c:axId val="683998640"/>
      </c:barChart>
      <c:catAx>
        <c:axId val="310367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83998640"/>
        <c:crosses val="autoZero"/>
        <c:auto val="1"/>
        <c:lblAlgn val="ctr"/>
        <c:lblOffset val="100"/>
        <c:noMultiLvlLbl val="0"/>
      </c:catAx>
      <c:valAx>
        <c:axId val="683998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1036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ef9e8e8-569b-45b4-852f-4fc50db698f5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[Customer_Retention_Report.xlsx]Pivot Data!PivotTable1</c:name>
    <c:fmtId val="-1"/>
  </c:pivotSource>
  <c:chart>
    <c:autoTitleDeleted val="1"/>
    <c:plotArea>
      <c:layout/>
      <c:pieChart>
        <c:varyColors val="1"/>
        <c:ser>
          <c:idx val="0"/>
          <c:order val="0"/>
          <c:tx>
            <c:strRef>
              <c:f>'Pivot Data'!$J$25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4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4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4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shade val="82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82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82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1">
                      <a:tint val="83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83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83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5"/>
            <c:bubble3D val="0"/>
            <c:spPr>
              <a:gradFill rotWithShape="1">
                <a:gsLst>
                  <a:gs pos="0">
                    <a:schemeClr val="accent1">
                      <a:tint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tint val="48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48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48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delete val="1"/>
          </c:dLbls>
          <c:cat>
            <c:strRef>
              <c:f>'Pivot Data'!$I$26:$I$33</c:f>
              <c:strCache>
                <c:ptCount val="7"/>
                <c:pt idx="0">
                  <c:v>At Risk</c:v>
                </c:pt>
                <c:pt idx="1">
                  <c:v>Champions</c:v>
                </c:pt>
                <c:pt idx="2">
                  <c:v>Hibernating</c:v>
                </c:pt>
                <c:pt idx="3">
                  <c:v>Loyal Customers</c:v>
                </c:pt>
                <c:pt idx="4">
                  <c:v>Need Attention</c:v>
                </c:pt>
                <c:pt idx="5">
                  <c:v>New Customers</c:v>
                </c:pt>
                <c:pt idx="6">
                  <c:v>Promising</c:v>
                </c:pt>
              </c:strCache>
            </c:strRef>
          </c:cat>
          <c:val>
            <c:numRef>
              <c:f>'Pivot Data'!$J$26:$J$33</c:f>
              <c:numCache>
                <c:formatCode>[$$-409]#,##0.00</c:formatCode>
                <c:ptCount val="7"/>
                <c:pt idx="0">
                  <c:v>2691628.6302998</c:v>
                </c:pt>
                <c:pt idx="1">
                  <c:v>252626.929999995</c:v>
                </c:pt>
                <c:pt idx="2">
                  <c:v>2373848.94989974</c:v>
                </c:pt>
                <c:pt idx="3">
                  <c:v>16999.9299999999</c:v>
                </c:pt>
                <c:pt idx="4">
                  <c:v>2715422.0501998</c:v>
                </c:pt>
                <c:pt idx="5">
                  <c:v>2565394.73869975</c:v>
                </c:pt>
                <c:pt idx="6">
                  <c:v>2652627.24999978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22517b4-46a9-4669-b0e7-38f3629c2f1c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[Customer_Retention_Report.xlsx]Pivot Data!PivotTable22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Repeat vs One-Time Customers</a:t>
            </a:r>
            <a:endParaRPr lang="en-IN" sz="1400"/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'Pivot Data'!$L$8:$L$9</c:f>
              <c:strCache>
                <c:ptCount val="1"/>
                <c:pt idx="0">
                  <c:v>One-Time Customer</c:v>
                </c:pt>
              </c:strCache>
            </c:strRef>
          </c:tx>
          <c:spPr>
            <a:ln w="28575" cap="rnd" cmpd="sng" algn="ctr">
              <a:solidFill>
                <a:schemeClr val="accent1">
                  <a:shade val="76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'Pivot Data'!$K$10:$K$22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Data'!$L$10:$L$22</c:f>
              <c:numCache>
                <c:formatCode>General</c:formatCode>
                <c:ptCount val="12"/>
                <c:pt idx="0">
                  <c:v>8096</c:v>
                </c:pt>
                <c:pt idx="1">
                  <c:v>8372</c:v>
                </c:pt>
                <c:pt idx="2">
                  <c:v>9952</c:v>
                </c:pt>
                <c:pt idx="3">
                  <c:v>9529</c:v>
                </c:pt>
                <c:pt idx="4">
                  <c:v>10667</c:v>
                </c:pt>
                <c:pt idx="5">
                  <c:v>9499</c:v>
                </c:pt>
                <c:pt idx="6">
                  <c:v>10434</c:v>
                </c:pt>
                <c:pt idx="7">
                  <c:v>10915</c:v>
                </c:pt>
                <c:pt idx="8">
                  <c:v>4277</c:v>
                </c:pt>
                <c:pt idx="9">
                  <c:v>5011</c:v>
                </c:pt>
                <c:pt idx="10">
                  <c:v>7633</c:v>
                </c:pt>
                <c:pt idx="11">
                  <c:v>5716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'Pivot Data'!$M$8:$M$9</c:f>
              <c:strCache>
                <c:ptCount val="1"/>
                <c:pt idx="0">
                  <c:v>Repeat Customer</c:v>
                </c:pt>
              </c:strCache>
            </c:strRef>
          </c:tx>
          <c:spPr>
            <a:ln w="28575" cap="rnd" cmpd="sng" algn="ctr">
              <a:solidFill>
                <a:schemeClr val="accent1">
                  <a:tint val="77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'Pivot Data'!$K$10:$K$22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Data'!$M$10:$M$22</c:f>
              <c:numCache>
                <c:formatCode>General</c:formatCode>
                <c:ptCount val="12"/>
                <c:pt idx="0">
                  <c:v>664</c:v>
                </c:pt>
                <c:pt idx="1">
                  <c:v>705</c:v>
                </c:pt>
                <c:pt idx="2">
                  <c:v>703</c:v>
                </c:pt>
                <c:pt idx="3">
                  <c:v>586</c:v>
                </c:pt>
                <c:pt idx="4">
                  <c:v>776</c:v>
                </c:pt>
                <c:pt idx="5">
                  <c:v>691</c:v>
                </c:pt>
                <c:pt idx="6">
                  <c:v>736</c:v>
                </c:pt>
                <c:pt idx="7">
                  <c:v>742</c:v>
                </c:pt>
                <c:pt idx="8">
                  <c:v>388</c:v>
                </c:pt>
                <c:pt idx="9">
                  <c:v>415</c:v>
                </c:pt>
                <c:pt idx="10">
                  <c:v>546</c:v>
                </c:pt>
                <c:pt idx="11">
                  <c:v>395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355266175"/>
        <c:axId val="334063535"/>
      </c:lineChart>
      <c:catAx>
        <c:axId val="35526617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4063535"/>
        <c:crosses val="autoZero"/>
        <c:auto val="1"/>
        <c:lblAlgn val="ctr"/>
        <c:lblOffset val="100"/>
        <c:noMultiLvlLbl val="0"/>
      </c:catAx>
      <c:valAx>
        <c:axId val="33406353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55266175"/>
        <c:crosses val="autoZero"/>
        <c:crossBetween val="between"/>
      </c:valAx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84f9abf-70e9-44b0-8a67-eff6a08b0435}"/>
      </c:ext>
    </c:extLst>
  </c:chart>
  <c:spPr>
    <a:ln>
      <a:noFill/>
    </a:ln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[Customer_Retention_Report.xlsx]Pivot Data!PivotTable20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AOV Trend</a:t>
            </a:r>
            <a:endParaRPr lang="en-IN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'Pivot Data'!$C$50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Data'!$B$51:$B$63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Data'!$C$51:$C$63</c:f>
              <c:numCache>
                <c:formatCode>General</c:formatCode>
                <c:ptCount val="12"/>
                <c:pt idx="0">
                  <c:v>129.738780518037</c:v>
                </c:pt>
                <c:pt idx="1">
                  <c:v>124.92797130936</c:v>
                </c:pt>
                <c:pt idx="2">
                  <c:v>134.604146345896</c:v>
                </c:pt>
                <c:pt idx="3">
                  <c:v>142.910463427159</c:v>
                </c:pt>
                <c:pt idx="4">
                  <c:v>138.3091515653</c:v>
                </c:pt>
                <c:pt idx="5">
                  <c:v>135.67543665533</c:v>
                </c:pt>
                <c:pt idx="6">
                  <c:v>131.576379152932</c:v>
                </c:pt>
                <c:pt idx="7">
                  <c:v>129.363270331084</c:v>
                </c:pt>
                <c:pt idx="8">
                  <c:v>139.141498257843</c:v>
                </c:pt>
                <c:pt idx="9">
                  <c:v>139.572956241181</c:v>
                </c:pt>
                <c:pt idx="10">
                  <c:v>128.366691410397</c:v>
                </c:pt>
                <c:pt idx="11">
                  <c:v>129.14912759958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64818656"/>
        <c:axId val="683982800"/>
      </c:lineChart>
      <c:catAx>
        <c:axId val="864818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83982800"/>
        <c:crosses val="autoZero"/>
        <c:auto val="1"/>
        <c:lblAlgn val="ctr"/>
        <c:lblOffset val="100"/>
        <c:noMultiLvlLbl val="0"/>
      </c:catAx>
      <c:valAx>
        <c:axId val="6839828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64818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085b6ba-d805-4b63-a0aa-3dc83727c4a2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[Customer_Retention_Report.xlsx]Pivot Data!PivotTable9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chemeClr val="tx1"/>
                </a:solidFill>
              </a:rPr>
              <a:t>Customers</a:t>
            </a:r>
            <a:r>
              <a:rPr lang="en-IN" sz="1400" b="1" i="0" u="none" strike="noStrike" baseline="0"/>
              <a:t> </a:t>
            </a:r>
            <a:r>
              <a:rPr lang="en-IN" sz="1400" b="1" i="0" u="none" strike="noStrike" baseline="0">
                <a:solidFill>
                  <a:schemeClr val="tx1"/>
                </a:solidFill>
              </a:rPr>
              <a:t>Trend</a:t>
            </a:r>
            <a:endParaRPr lang="en-US" b="1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'Pivot Data'!$H$10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Data'!$G$11:$G$23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Data'!$H$11:$H$23</c:f>
              <c:numCache>
                <c:formatCode>General</c:formatCode>
                <c:ptCount val="12"/>
                <c:pt idx="0">
                  <c:v>8760</c:v>
                </c:pt>
                <c:pt idx="1">
                  <c:v>9077</c:v>
                </c:pt>
                <c:pt idx="2">
                  <c:v>10655</c:v>
                </c:pt>
                <c:pt idx="3">
                  <c:v>10115</c:v>
                </c:pt>
                <c:pt idx="4">
                  <c:v>11443</c:v>
                </c:pt>
                <c:pt idx="5">
                  <c:v>10190</c:v>
                </c:pt>
                <c:pt idx="6">
                  <c:v>11170</c:v>
                </c:pt>
                <c:pt idx="7">
                  <c:v>11657</c:v>
                </c:pt>
                <c:pt idx="8">
                  <c:v>4665</c:v>
                </c:pt>
                <c:pt idx="9">
                  <c:v>5426</c:v>
                </c:pt>
                <c:pt idx="10">
                  <c:v>8179</c:v>
                </c:pt>
                <c:pt idx="11">
                  <c:v>6111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605302992"/>
        <c:axId val="684176240"/>
      </c:lineChart>
      <c:catAx>
        <c:axId val="605302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84176240"/>
        <c:crosses val="autoZero"/>
        <c:auto val="1"/>
        <c:lblAlgn val="ctr"/>
        <c:lblOffset val="100"/>
        <c:noMultiLvlLbl val="0"/>
      </c:catAx>
      <c:valAx>
        <c:axId val="68417624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302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30dba1c-96ac-4b73-8095-95ddc820247e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[Customer_Retention_Report.xlsx]Pivot Data!PivotTable4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Sales Trend</a:t>
            </a:r>
            <a:endParaRPr 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'Pivot Data'!$P$28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[$$-409]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Data'!$O$29:$O$41</c:f>
              <c:strCache>
                <c:ptCount val="12"/>
                <c:pt idx="0">
                  <c:v>May</c:v>
                </c:pt>
                <c:pt idx="1">
                  <c:v>Aug</c:v>
                </c:pt>
                <c:pt idx="2">
                  <c:v>Jul</c:v>
                </c:pt>
                <c:pt idx="3">
                  <c:v>Apr</c:v>
                </c:pt>
                <c:pt idx="4">
                  <c:v>Mar</c:v>
                </c:pt>
                <c:pt idx="5">
                  <c:v>Jun</c:v>
                </c:pt>
                <c:pt idx="6">
                  <c:v>Feb</c:v>
                </c:pt>
                <c:pt idx="7">
                  <c:v>Jan</c:v>
                </c:pt>
                <c:pt idx="8">
                  <c:v>Nov</c:v>
                </c:pt>
                <c:pt idx="9">
                  <c:v>Dec</c:v>
                </c:pt>
                <c:pt idx="10">
                  <c:v>Oct</c:v>
                </c:pt>
                <c:pt idx="11">
                  <c:v>Sep</c:v>
                </c:pt>
              </c:strCache>
            </c:strRef>
          </c:cat>
          <c:val>
            <c:numRef>
              <c:f>'Pivot Data'!$P$29:$P$41</c:f>
              <c:numCache>
                <c:formatCode>[$$-409]#,##0.00</c:formatCode>
                <c:ptCount val="12"/>
                <c:pt idx="0">
                  <c:v>1462342.65949992</c:v>
                </c:pt>
                <c:pt idx="1">
                  <c:v>1402685.94019994</c:v>
                </c:pt>
                <c:pt idx="2">
                  <c:v>1357605.08009995</c:v>
                </c:pt>
                <c:pt idx="3">
                  <c:v>1335212.45979995</c:v>
                </c:pt>
                <c:pt idx="4">
                  <c:v>1331638.81979995</c:v>
                </c:pt>
                <c:pt idx="5">
                  <c:v>1276977.20979997</c:v>
                </c:pt>
                <c:pt idx="6">
                  <c:v>1062887.17990004</c:v>
                </c:pt>
                <c:pt idx="7">
                  <c:v>1046862.22000004</c:v>
                </c:pt>
                <c:pt idx="8">
                  <c:v>968398.320000035</c:v>
                </c:pt>
                <c:pt idx="9">
                  <c:v>732792.150000018</c:v>
                </c:pt>
                <c:pt idx="10">
                  <c:v>692142.290000015</c:v>
                </c:pt>
                <c:pt idx="11">
                  <c:v>599004.150000015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70279488"/>
        <c:axId val="789537872"/>
      </c:lineChart>
      <c:catAx>
        <c:axId val="970279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89537872"/>
        <c:crosses val="autoZero"/>
        <c:auto val="1"/>
        <c:lblAlgn val="ctr"/>
        <c:lblOffset val="100"/>
        <c:noMultiLvlLbl val="0"/>
      </c:catAx>
      <c:valAx>
        <c:axId val="78953787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,##0.00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70279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dd31b05-d4cf-4e96-a36c-56fdea0c7857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[Customer_Retention_Report.xlsx]Pivot Data!PivotTable1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/>
              <a:t>Revenue by Customer Segment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'Pivot Data'!$J$25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4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4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4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shade val="82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82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82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1">
                      <a:tint val="83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83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83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5"/>
            <c:bubble3D val="0"/>
            <c:spPr>
              <a:gradFill rotWithShape="1">
                <a:gsLst>
                  <a:gs pos="0">
                    <a:schemeClr val="accent1">
                      <a:tint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tint val="48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48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48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dPt>
          <c:dLbls>
            <c:numFmt formatCode="[$$-409]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Data'!$I$26:$I$33</c:f>
              <c:strCache>
                <c:ptCount val="7"/>
                <c:pt idx="0">
                  <c:v>At Risk</c:v>
                </c:pt>
                <c:pt idx="1">
                  <c:v>Champions</c:v>
                </c:pt>
                <c:pt idx="2">
                  <c:v>Hibernating</c:v>
                </c:pt>
                <c:pt idx="3">
                  <c:v>Loyal Customers</c:v>
                </c:pt>
                <c:pt idx="4">
                  <c:v>Need Attention</c:v>
                </c:pt>
                <c:pt idx="5">
                  <c:v>New Customers</c:v>
                </c:pt>
                <c:pt idx="6">
                  <c:v>Promising</c:v>
                </c:pt>
              </c:strCache>
            </c:strRef>
          </c:cat>
          <c:val>
            <c:numRef>
              <c:f>'Pivot Data'!$J$26:$J$33</c:f>
              <c:numCache>
                <c:formatCode>[$$-409]#,##0.00</c:formatCode>
                <c:ptCount val="7"/>
                <c:pt idx="0">
                  <c:v>2691628.6302998</c:v>
                </c:pt>
                <c:pt idx="1">
                  <c:v>252626.929999995</c:v>
                </c:pt>
                <c:pt idx="2">
                  <c:v>2373848.94989974</c:v>
                </c:pt>
                <c:pt idx="3">
                  <c:v>16999.9299999999</c:v>
                </c:pt>
                <c:pt idx="4">
                  <c:v>2715422.0501998</c:v>
                </c:pt>
                <c:pt idx="5">
                  <c:v>2565394.73869975</c:v>
                </c:pt>
                <c:pt idx="6">
                  <c:v>2652627.24999978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f461202-732d-421f-8209-3d3e56185e27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[Customer_Retention_Report.xlsx]Pivot Data!PivotTable2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/>
              <a:t>Customers by Customer Segment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Data'!$M$26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Data'!$L$27:$L$34</c:f>
              <c:strCache>
                <c:ptCount val="7"/>
                <c:pt idx="0">
                  <c:v>Loyal Customers</c:v>
                </c:pt>
                <c:pt idx="1">
                  <c:v>Champions</c:v>
                </c:pt>
                <c:pt idx="2">
                  <c:v>New Customers</c:v>
                </c:pt>
                <c:pt idx="3">
                  <c:v>Hibernating</c:v>
                </c:pt>
                <c:pt idx="4">
                  <c:v>Promising</c:v>
                </c:pt>
                <c:pt idx="5">
                  <c:v>Need Attention</c:v>
                </c:pt>
                <c:pt idx="6">
                  <c:v>At Risk</c:v>
                </c:pt>
              </c:strCache>
            </c:strRef>
          </c:cat>
          <c:val>
            <c:numRef>
              <c:f>'Pivot Data'!$M$27:$M$34</c:f>
              <c:numCache>
                <c:formatCode>General</c:formatCode>
                <c:ptCount val="7"/>
                <c:pt idx="0">
                  <c:v>514</c:v>
                </c:pt>
                <c:pt idx="1">
                  <c:v>1681</c:v>
                </c:pt>
                <c:pt idx="2">
                  <c:v>18755</c:v>
                </c:pt>
                <c:pt idx="3">
                  <c:v>18857</c:v>
                </c:pt>
                <c:pt idx="4">
                  <c:v>19684</c:v>
                </c:pt>
                <c:pt idx="5">
                  <c:v>19926</c:v>
                </c:pt>
                <c:pt idx="6">
                  <c:v>20024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067049519"/>
        <c:axId val="1499717007"/>
      </c:barChart>
      <c:catAx>
        <c:axId val="10670495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499717007"/>
        <c:crosses val="autoZero"/>
        <c:auto val="1"/>
        <c:lblAlgn val="ctr"/>
        <c:lblOffset val="100"/>
        <c:noMultiLvlLbl val="0"/>
      </c:catAx>
      <c:valAx>
        <c:axId val="1499717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067049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c41cf62-0da1-4037-97c9-f5d375b6f56f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853AD-B532-4AFB-AA94-E456301597C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6B542-91E5-4072-A587-EC0B4A37B4F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7.xml"/><Relationship Id="rId1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9677" y="2439732"/>
            <a:ext cx="8512278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+mn-lt"/>
              </a:rPr>
              <a:t>Customer Segmentation, Retention &amp; Lifetime Value Analytics Report</a:t>
            </a:r>
            <a:endParaRPr lang="en-IN" sz="4000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519" y="4945626"/>
            <a:ext cx="3299951" cy="1912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8770374" y="1"/>
            <a:ext cx="3408106" cy="1828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818966" y="2536689"/>
            <a:ext cx="1179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dirty="0"/>
              <a:t>👥</a:t>
            </a:r>
            <a:endParaRPr lang="en-IN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355" y="243973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A Data-Driven Approach to Customer Retention</a:t>
            </a:r>
            <a:br>
              <a:rPr lang="en-IN" b="1" dirty="0">
                <a:latin typeface="+mn-lt"/>
              </a:rPr>
            </a:br>
            <a:r>
              <a:rPr lang="en-IN" sz="2000" b="1" i="1" dirty="0">
                <a:latin typeface="+mn-lt"/>
              </a:rPr>
              <a:t>Transforming Customer Insights into Long-Term Business Growth</a:t>
            </a:r>
            <a:br>
              <a:rPr lang="en-IN" b="1" dirty="0">
                <a:latin typeface="+mn-lt"/>
              </a:rPr>
            </a:br>
            <a:endParaRPr lang="en-IN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519" y="4945626"/>
            <a:ext cx="3299951" cy="1912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8770374" y="1"/>
            <a:ext cx="3408106" cy="1828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85135" y="258901"/>
            <a:ext cx="7128387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Purpose</a:t>
            </a:r>
            <a:endParaRPr lang="en-IN" sz="1400" dirty="0"/>
          </a:p>
          <a:p>
            <a:r>
              <a:rPr lang="en-IN" sz="1400" dirty="0"/>
              <a:t>Transform e-commerce transaction data into actionable customer insights by identifying customer segments, measuring lifetime value, and analysing purchasing behaviour to support data-driven business decisions.</a:t>
            </a:r>
            <a:endParaRPr lang="en-IN" sz="1400" dirty="0"/>
          </a:p>
          <a:p>
            <a:endParaRPr lang="en-IN" sz="1400" dirty="0"/>
          </a:p>
          <a:p>
            <a:r>
              <a:rPr lang="en-IN" sz="1400" b="1" dirty="0"/>
              <a:t>Data Analytics Concepts</a:t>
            </a:r>
            <a:endParaRPr lang="en-IN" sz="1400" dirty="0"/>
          </a:p>
          <a:p>
            <a:r>
              <a:rPr lang="en-IN" sz="1400" dirty="0"/>
              <a:t>Customer Segmentation (RFM Analysis), Customer Lifetime Value (CLV), Cohort Analysis, Customer Retention, Revenue Analysis, KPI Reporting, Trend Analysis, Business Intelligence</a:t>
            </a:r>
            <a:endParaRPr lang="en-IN" sz="1400" dirty="0"/>
          </a:p>
          <a:p>
            <a:endParaRPr lang="en-IN" sz="1400" dirty="0"/>
          </a:p>
          <a:p>
            <a:r>
              <a:rPr lang="en-IN" sz="1400" b="1" dirty="0"/>
              <a:t>Technology Stack Tools</a:t>
            </a:r>
            <a:endParaRPr lang="en-IN" sz="1400" dirty="0"/>
          </a:p>
          <a:p>
            <a:r>
              <a:rPr lang="en-IN" sz="1400" dirty="0"/>
              <a:t>SQL Server, Python, Microsoft Excel</a:t>
            </a:r>
            <a:endParaRPr lang="en-IN" sz="1400" dirty="0"/>
          </a:p>
          <a:p>
            <a:endParaRPr lang="en-IN" sz="1400" dirty="0"/>
          </a:p>
          <a:p>
            <a:r>
              <a:rPr lang="en-IN" sz="1400" b="1" dirty="0"/>
              <a:t>Summary</a:t>
            </a:r>
            <a:endParaRPr lang="en-IN" sz="1400" dirty="0"/>
          </a:p>
          <a:p>
            <a:r>
              <a:rPr lang="en-IN" sz="1400" dirty="0"/>
              <a:t>Developed an end-to-end customer analytics solution using SQL, Excel, and Python to analyse 100,000+ e-commerce orders. Implemented RFM segmentation, customer lifetime value (CLV), and retention analysis to generate actionable business insights.</a:t>
            </a:r>
            <a:endParaRPr lang="en-IN" sz="1400" dirty="0"/>
          </a:p>
          <a:p>
            <a:endParaRPr lang="en-IN" sz="1400" dirty="0"/>
          </a:p>
          <a:p>
            <a:r>
              <a:rPr lang="en-IN" sz="1400" b="1" dirty="0"/>
              <a:t>Process:</a:t>
            </a:r>
            <a:endParaRPr lang="en-IN" sz="1400" dirty="0"/>
          </a:p>
          <a:p>
            <a:r>
              <a:rPr lang="en-IN" sz="1400" dirty="0"/>
              <a:t>Imported and integrated multiple e-commerce datasets, then designed a star schema with fact and dimension tables for analytics.</a:t>
            </a:r>
            <a:endParaRPr lang="en-IN" sz="1400" dirty="0"/>
          </a:p>
          <a:p>
            <a:r>
              <a:rPr lang="en-IN" sz="1400" dirty="0"/>
              <a:t>Built SQL views and business KPIs including Revenue, AOV, CLV, Customer Retention, Payment, Delivery, and Seller Performance metrics.</a:t>
            </a:r>
            <a:endParaRPr lang="en-IN" sz="1400" dirty="0"/>
          </a:p>
          <a:p>
            <a:r>
              <a:rPr lang="en-IN" sz="1400" dirty="0"/>
              <a:t>Applied RFM (Recency, Frequency, Monetary) analysis using SQL window functions to segment customers into actionable business groups.</a:t>
            </a:r>
            <a:endParaRPr lang="en-IN" sz="1400" dirty="0"/>
          </a:p>
          <a:p>
            <a:r>
              <a:rPr lang="en-IN" sz="1400" dirty="0"/>
              <a:t>Analysed customer purchasing behaviour, payment preferences, repeat customers, and regional trends to identify key business opportunities.</a:t>
            </a:r>
            <a:endParaRPr lang="en-IN" sz="1400" dirty="0"/>
          </a:p>
          <a:p>
            <a:r>
              <a:rPr lang="en-IN" sz="1400" dirty="0"/>
              <a:t>Developed an interactive Excel/Power BI dashboard with KPI cards and visualizations to support customer analytics and business decision-making.</a:t>
            </a:r>
            <a:endParaRPr lang="en-IN" sz="1400" dirty="0"/>
          </a:p>
          <a:p>
            <a:endParaRPr lang="en-IN" sz="1400" dirty="0"/>
          </a:p>
        </p:txBody>
      </p:sp>
      <p:graphicFrame>
        <p:nvGraphicFramePr>
          <p:cNvPr id="8" name="Chart 7"/>
          <p:cNvGraphicFramePr/>
          <p:nvPr/>
        </p:nvGraphicFramePr>
        <p:xfrm>
          <a:off x="7887155" y="1123472"/>
          <a:ext cx="3400277" cy="2160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Chart 8"/>
          <p:cNvGraphicFramePr/>
          <p:nvPr/>
        </p:nvGraphicFramePr>
        <p:xfrm>
          <a:off x="8986684" y="3028335"/>
          <a:ext cx="2497393" cy="1927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/>
          <p:nvPr/>
        </p:nvGraphicFramePr>
        <p:xfrm>
          <a:off x="8136584" y="4830856"/>
          <a:ext cx="1700199" cy="1304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Dashboard KPI Scorecard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Five core metrics anchor the customer analytics program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91640"/>
            <a:ext cx="457200" cy="73152"/>
          </a:xfrm>
          <a:prstGeom prst="rect">
            <a:avLst/>
          </a:prstGeom>
          <a:solidFill>
            <a:srgbClr val="C9A227"/>
          </a:solidFill>
        </p:spPr>
      </p:sp>
      <p:sp>
        <p:nvSpPr>
          <p:cNvPr id="6" name="Text 4"/>
          <p:cNvSpPr/>
          <p:nvPr/>
        </p:nvSpPr>
        <p:spPr>
          <a:xfrm>
            <a:off x="713232" y="1856232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Highest CLV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$9,813.75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926080"/>
            <a:ext cx="17556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Peak customer value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50876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99232" y="1691640"/>
            <a:ext cx="457200" cy="73152"/>
          </a:xfrm>
          <a:prstGeom prst="rect">
            <a:avLst/>
          </a:prstGeom>
          <a:solidFill>
            <a:srgbClr val="0E7C7B"/>
          </a:solidFill>
        </p:spPr>
      </p:sp>
      <p:sp>
        <p:nvSpPr>
          <p:cNvPr id="11" name="Text 9"/>
          <p:cNvSpPr/>
          <p:nvPr/>
        </p:nvSpPr>
        <p:spPr>
          <a:xfrm>
            <a:off x="2999232" y="1856232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Average CLV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99232" y="2377440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$139.10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99232" y="2926080"/>
            <a:ext cx="17556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Typical customer 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50876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85232" y="1691640"/>
            <a:ext cx="457200" cy="73152"/>
          </a:xfrm>
          <a:prstGeom prst="rect">
            <a:avLst/>
          </a:prstGeom>
          <a:solidFill>
            <a:srgbClr val="44506B"/>
          </a:solidFill>
        </p:spPr>
      </p:sp>
      <p:sp>
        <p:nvSpPr>
          <p:cNvPr id="16" name="Text 14"/>
          <p:cNvSpPr/>
          <p:nvPr/>
        </p:nvSpPr>
        <p:spPr>
          <a:xfrm>
            <a:off x="5285232" y="1856232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Customers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85232" y="2377440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450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96,096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85232" y="2926080"/>
            <a:ext cx="17556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active 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50876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71232" y="1691640"/>
            <a:ext cx="457200" cy="73152"/>
          </a:xfrm>
          <a:prstGeom prst="rect">
            <a:avLst/>
          </a:prstGeom>
          <a:solidFill>
            <a:srgbClr val="5B4B8A"/>
          </a:solidFill>
        </p:spPr>
      </p:sp>
      <p:sp>
        <p:nvSpPr>
          <p:cNvPr id="21" name="Text 19"/>
          <p:cNvSpPr/>
          <p:nvPr/>
        </p:nvSpPr>
        <p:spPr>
          <a:xfrm>
            <a:off x="7571232" y="1856232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Repeat Customers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71232" y="2377440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4B8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2,997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71232" y="2926080"/>
            <a:ext cx="17556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3.1% of base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92640" y="1508760"/>
            <a:ext cx="2084832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57232" y="1691640"/>
            <a:ext cx="457200" cy="73152"/>
          </a:xfrm>
          <a:prstGeom prst="rect">
            <a:avLst/>
          </a:prstGeom>
          <a:solidFill>
            <a:srgbClr val="8A3A3A"/>
          </a:solidFill>
        </p:spPr>
      </p:sp>
      <p:sp>
        <p:nvSpPr>
          <p:cNvPr id="26" name="Text 24"/>
          <p:cNvSpPr/>
          <p:nvPr/>
        </p:nvSpPr>
        <p:spPr>
          <a:xfrm>
            <a:off x="9857232" y="1856232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One-Time Customers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857232" y="2377440"/>
            <a:ext cx="175564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3A3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93,099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857232" y="2926080"/>
            <a:ext cx="175564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96.9% of base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</p:spPr>
      </p:sp>
      <p:sp>
        <p:nvSpPr>
          <p:cNvPr id="30" name="Shape 28"/>
          <p:cNvSpPr/>
          <p:nvPr/>
        </p:nvSpPr>
        <p:spPr>
          <a:xfrm>
            <a:off x="804672" y="4050792"/>
            <a:ext cx="502920" cy="82296"/>
          </a:xfrm>
          <a:prstGeom prst="rect">
            <a:avLst/>
          </a:prstGeom>
          <a:solidFill>
            <a:srgbClr val="C9A227"/>
          </a:solidFill>
        </p:spPr>
      </p:sp>
      <p:sp>
        <p:nvSpPr>
          <p:cNvPr id="31" name="Text 29"/>
          <p:cNvSpPr/>
          <p:nvPr/>
        </p:nvSpPr>
        <p:spPr>
          <a:xfrm>
            <a:off x="804672" y="4233672"/>
            <a:ext cx="3008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CUSTOMER VALUE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04672" y="4663440"/>
            <a:ext cx="300837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EE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How much value does each customer generate?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</p:spPr>
      </p:sp>
      <p:sp>
        <p:nvSpPr>
          <p:cNvPr id="34" name="Shape 32"/>
          <p:cNvSpPr/>
          <p:nvPr/>
        </p:nvSpPr>
        <p:spPr>
          <a:xfrm>
            <a:off x="4645152" y="4050792"/>
            <a:ext cx="502920" cy="82296"/>
          </a:xfrm>
          <a:prstGeom prst="rect">
            <a:avLst/>
          </a:prstGeom>
          <a:solidFill>
            <a:srgbClr val="44506B"/>
          </a:solidFill>
        </p:spPr>
      </p:sp>
      <p:sp>
        <p:nvSpPr>
          <p:cNvPr id="35" name="Text 33"/>
          <p:cNvSpPr/>
          <p:nvPr/>
        </p:nvSpPr>
        <p:spPr>
          <a:xfrm>
            <a:off x="4645152" y="4233672"/>
            <a:ext cx="3008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CUSTOMER BASE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45152" y="4663440"/>
            <a:ext cx="300837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EE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How large is the addressable customer population?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29600" y="3794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1B2A4A"/>
          </a:solidFill>
        </p:spPr>
      </p:sp>
      <p:sp>
        <p:nvSpPr>
          <p:cNvPr id="38" name="Shape 36"/>
          <p:cNvSpPr/>
          <p:nvPr/>
        </p:nvSpPr>
        <p:spPr>
          <a:xfrm>
            <a:off x="8485632" y="4050792"/>
            <a:ext cx="502920" cy="82296"/>
          </a:xfrm>
          <a:prstGeom prst="rect">
            <a:avLst/>
          </a:prstGeom>
          <a:solidFill>
            <a:srgbClr val="5B4B8A"/>
          </a:solidFill>
        </p:spPr>
      </p:sp>
      <p:sp>
        <p:nvSpPr>
          <p:cNvPr id="39" name="Text 37"/>
          <p:cNvSpPr/>
          <p:nvPr/>
        </p:nvSpPr>
        <p:spPr>
          <a:xfrm>
            <a:off x="8485632" y="4233672"/>
            <a:ext cx="3008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CUSTOMER RETENTION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485632" y="4663440"/>
            <a:ext cx="300837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EE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How well is the business converting and keeping customers?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Section 1  |  Overview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0" y="6519672"/>
            <a:ext cx="487375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Segmentation, Retention &amp; Lifetime Value Analytics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591600" y="2460658"/>
          <a:ext cx="5504400" cy="37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6096000" y="2460658"/>
          <a:ext cx="5504400" cy="37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7082" y="530944"/>
            <a:ext cx="56240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Customer:</a:t>
            </a:r>
            <a:r>
              <a:rPr lang="en-IN" sz="1400" dirty="0"/>
              <a:t> Most customers are one-time buyers, while repeat customers represent a relatively small portion of the customer base.</a:t>
            </a:r>
            <a:endParaRPr lang="en-IN" sz="1400" dirty="0"/>
          </a:p>
          <a:p>
            <a:r>
              <a:rPr lang="en-IN" sz="1400" b="1" dirty="0"/>
              <a:t>Increasing repeat purchase rates through loyalty programs and personalized marketing can improve long-term customer retention and revenue.</a:t>
            </a:r>
            <a:endParaRPr lang="en-IN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343491" y="528862"/>
            <a:ext cx="56240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Sales:</a:t>
            </a:r>
            <a:r>
              <a:rPr lang="en-IN" sz="1400" dirty="0"/>
              <a:t> Average Order Value remained relatively stable, with peak purchasing observed during April, September, and October.</a:t>
            </a:r>
            <a:endParaRPr lang="en-IN" sz="1400" dirty="0"/>
          </a:p>
          <a:p>
            <a:r>
              <a:rPr lang="en-IN" sz="1400" b="1" dirty="0"/>
              <a:t>Promotional campaigns and product bundling during high-performing months can further increase average customer spending.</a:t>
            </a:r>
            <a:endParaRPr lang="en-IN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689940" y="2163097"/>
          <a:ext cx="5504383" cy="3728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6343491" y="2162246"/>
          <a:ext cx="5504400" cy="37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7082" y="530944"/>
            <a:ext cx="56240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Customer:</a:t>
            </a:r>
            <a:r>
              <a:rPr lang="en-IN" sz="1400" dirty="0"/>
              <a:t> Customer acquisition remained strong during the first eight months before declining in the later months.</a:t>
            </a:r>
            <a:endParaRPr lang="en-IN" sz="1400" dirty="0"/>
          </a:p>
          <a:p>
            <a:r>
              <a:rPr lang="en-IN" sz="1400" b="1" dirty="0"/>
              <a:t>Improving acquisition campaigns and retention strategies during low-performing periods can help maintain consistent customer growth throughout the year.</a:t>
            </a:r>
            <a:endParaRPr lang="en-IN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6343491" y="528862"/>
            <a:ext cx="56240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Sales:</a:t>
            </a:r>
            <a:r>
              <a:rPr lang="en-IN" sz="1400" dirty="0"/>
              <a:t> Revenue shows a gradual decline over the analysis period, indicating reduced sales performance in the later months.</a:t>
            </a:r>
            <a:endParaRPr lang="en-IN" sz="1400" dirty="0"/>
          </a:p>
          <a:p>
            <a:r>
              <a:rPr lang="en-IN" sz="1400" b="1" dirty="0"/>
              <a:t>Identifying seasonal demand patterns and optimizing pricing, promotions, and customer retention strategies can help improve future sales performance.</a:t>
            </a:r>
            <a:endParaRPr lang="en-IN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/>
          <p:nvPr/>
        </p:nvGraphicFramePr>
        <p:xfrm>
          <a:off x="688259" y="2631693"/>
          <a:ext cx="4963726" cy="3651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6901448" y="2268124"/>
          <a:ext cx="4110682" cy="4060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406014" y="521108"/>
            <a:ext cx="9212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 Segmentation: Revenue is distributed across At Risk, Promising, Need Attention, and Hibernating customers.</a:t>
            </a:r>
            <a:endParaRPr lang="en-IN" dirty="0"/>
          </a:p>
          <a:p>
            <a:r>
              <a:rPr lang="en-IN" dirty="0"/>
              <a:t>Revenue contribution from Champions and Loyal Customers is relatively small, highlighting opportunities to strengthen customer retention and convert mid-value segments into high-value customers.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3474</Words>
  <Application>WPS Presentation</Application>
  <PresentationFormat>Widescreen</PresentationFormat>
  <Paragraphs>91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Calibri</vt:lpstr>
      <vt:lpstr>Calibri</vt:lpstr>
      <vt:lpstr>Office Theme</vt:lpstr>
      <vt:lpstr>Customer Segmentation, Retention &amp; Lifetime Value Analytics Report</vt:lpstr>
      <vt:lpstr>A Data-Driven Approach to Customer Retention Transforming Customer Insights into Long-Term Business Growth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Gowthaman Madhavan</dc:creator>
  <cp:lastModifiedBy>gowth</cp:lastModifiedBy>
  <cp:revision>2</cp:revision>
  <dcterms:created xsi:type="dcterms:W3CDTF">2026-08-06T16:28:00Z</dcterms:created>
  <dcterms:modified xsi:type="dcterms:W3CDTF">2026-08-08T06:16:57Z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CBDA7DFD7D334DE7987F163D14B126C6_12</vt:lpwstr>
  </property>
</Properties>
</file>